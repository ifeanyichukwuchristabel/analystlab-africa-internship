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77440" cy="9144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6035040"/>
            <a:ext cx="1463040" cy="8229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5303520"/>
            <a:ext cx="1097280" cy="32004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TELCO CUSTOMER CHURN</a:t>
            </a:r>
          </a:p>
          <a:p>
            <a:pPr>
              <a:defRPr sz="2100">
                <a:solidFill>
                  <a:srgbClr val="B9D2E6"/>
                </a:solidFill>
              </a:defRPr>
            </a:pPr>
            <a:r>
              <a:t>Business Analytics Case Study</a:t>
            </a:r>
          </a:p>
          <a:p>
            <a:pPr>
              <a:defRPr sz="1100">
                <a:solidFill>
                  <a:srgbClr val="B9D2E6"/>
                </a:solidFill>
              </a:defRPr>
            </a:pPr>
            <a:r>
              <a:t>AnalystLab Africa Data Analytics Internship •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i="1">
                <a:solidFill>
                  <a:srgbClr val="FFFFFF"/>
                </a:solidFill>
              </a:defRPr>
            </a:pPr>
            <a:r>
              <a:t>Turning customer data into retention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80ED"/>
                </a:solidFill>
              </a:defRPr>
            </a:pPr>
            <a:r>
              <a:t>01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A43"/>
                </a:solidFill>
              </a:defRPr>
            </a:pPr>
            <a:r>
              <a:t>The Business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05840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300" b="1">
                <a:solidFill>
                  <a:srgbClr val="00A6A6"/>
                </a:solidFill>
              </a:defRPr>
            </a:pPr>
            <a:r>
              <a:t>The question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Why are customers leaving?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Which customer groups are most likely to churn?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What factors are associated with higher churn?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What can the business do to improve retention?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303520" cy="429768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C8DC"/>
                </a:solidFill>
              </a:defRPr>
            </a:pPr>
            <a:r>
              <a:t>ANALYTICAL OBJECTIVE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Identify the major churn drivers and translate the evidence into practical retention strategies.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7D98"/>
                </a:solidFill>
              </a:defRPr>
            </a:pPr>
            <a:r>
              <a:t>AnalystLab Africa • Week 5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80ED"/>
                </a:solidFill>
              </a:defRPr>
            </a:pPr>
            <a:r>
              <a:t>02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A43"/>
                </a:solidFill>
              </a:defRPr>
            </a:pPr>
            <a:r>
              <a:t>Dataset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05840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F80ED"/>
                </a:solidFill>
              </a:defRPr>
            </a:pPr>
            <a:r>
              <a:t>7,043</a:t>
            </a:r>
          </a:p>
          <a:p>
            <a:pPr algn="ctr">
              <a:defRPr sz="900">
                <a:solidFill>
                  <a:srgbClr val="627D98"/>
                </a:solidFill>
              </a:defRPr>
            </a:pPr>
            <a:r>
              <a:t>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EB5757"/>
                </a:solidFill>
              </a:defRPr>
            </a:pPr>
            <a:r>
              <a:t>1,869</a:t>
            </a:r>
          </a:p>
          <a:p>
            <a:pPr algn="ctr">
              <a:defRPr sz="900">
                <a:solidFill>
                  <a:srgbClr val="627D98"/>
                </a:solidFill>
              </a:defRPr>
            </a:pPr>
            <a:r>
              <a:t>Churned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5448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A6A6"/>
                </a:solidFill>
              </a:defRPr>
            </a:pPr>
            <a:r>
              <a:t>5,174</a:t>
            </a:r>
          </a:p>
          <a:p>
            <a:pPr algn="ctr">
              <a:defRPr sz="900">
                <a:solidFill>
                  <a:srgbClr val="627D98"/>
                </a:solidFill>
              </a:defRPr>
            </a:pPr>
            <a:r>
              <a:t>Retained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55448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2994A"/>
                </a:solidFill>
              </a:defRPr>
            </a:pPr>
            <a:r>
              <a:t>26.5%</a:t>
            </a:r>
          </a:p>
          <a:p>
            <a:pPr algn="ctr">
              <a:defRPr sz="900">
                <a:solidFill>
                  <a:srgbClr val="627D98"/>
                </a:solidFill>
              </a:defRPr>
            </a:pPr>
            <a:r>
              <a:t>Overall churn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4612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300" b="1">
                <a:solidFill>
                  <a:srgbClr val="2F80ED"/>
                </a:solidFill>
              </a:defRPr>
            </a:pPr>
            <a:r>
              <a:t>Customer profile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Gender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Senior Citizen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Partner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Dependents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24612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300" b="1">
                <a:solidFill>
                  <a:srgbClr val="00A6A6"/>
                </a:solidFill>
              </a:defRPr>
            </a:pPr>
            <a:r>
              <a:t>Services &amp; account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Internet &amp; phone services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Contract &amp; tenure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Support &amp; security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Payment method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24612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300" b="1">
                <a:solidFill>
                  <a:srgbClr val="F2994A"/>
                </a:solidFill>
              </a:defRPr>
            </a:pPr>
            <a:r>
              <a:t>Financial &amp; outcome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Monthly Charges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Total Charges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Churn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7D98"/>
                </a:solidFill>
              </a:defRPr>
            </a:pPr>
            <a:r>
              <a:t>AnalystLab Africa • Week 5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80ED"/>
                </a:solidFill>
              </a:defRPr>
            </a:pPr>
            <a:r>
              <a:t>03 • KEY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A43"/>
                </a:solidFill>
              </a:defRPr>
            </a:pPr>
            <a:r>
              <a:t>Contract Type Is the Clearest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05840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508760"/>
          <a:ext cx="6858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508760"/>
            <a:ext cx="3703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300" b="1">
                <a:solidFill>
                  <a:srgbClr val="00A6A6"/>
                </a:solidFill>
              </a:defRPr>
            </a:pPr>
            <a:r>
              <a:t>What this means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Month-to-month: 42.7%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One year: 11.3%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Two year: 2.8%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Less commitment = much higher churn risk.</a:t>
            </a:r>
          </a:p>
          <a:p>
            <a:pPr>
              <a:spcAft>
                <a:spcPts val="500"/>
              </a:spcAft>
              <a:defRPr sz="1000">
                <a:solidFill>
                  <a:srgbClr val="243B53"/>
                </a:solidFill>
              </a:defRPr>
            </a:pPr>
            <a:r>
              <a:t>• Retention strategy should prioritize contract conversion.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7D98"/>
                </a:solidFill>
              </a:defRPr>
            </a:pPr>
            <a:r>
              <a:t>AnalystLab Africa • Week 5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80ED"/>
                </a:solidFill>
              </a:defRPr>
            </a:pPr>
            <a:r>
              <a:t>04 •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A43"/>
                </a:solidFill>
              </a:defRPr>
            </a:pPr>
            <a:r>
              <a:t>Where Churn Concentrates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05840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F80ED"/>
                </a:solidFill>
              </a:defRPr>
            </a:pPr>
            <a:r>
              <a:t>Internet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43B53"/>
                </a:solidFill>
              </a:defRPr>
            </a:pPr>
            <a:r>
              <a:t>Fiber optic  41.9%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06039"/>
            <a:ext cx="3200400" cy="137160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606039"/>
            <a:ext cx="2681935" cy="1371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54679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43B53"/>
                </a:solidFill>
              </a:defRPr>
            </a:pPr>
            <a:r>
              <a:t>DSL  19.0%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28999"/>
            <a:ext cx="3200400" cy="137160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428999"/>
            <a:ext cx="1216152" cy="1371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43B53"/>
                </a:solidFill>
              </a:defRPr>
            </a:pPr>
            <a:r>
              <a:t>No internet  7.4%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51959"/>
            <a:ext cx="3200400" cy="137160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51959"/>
            <a:ext cx="473659" cy="1371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5968" y="150876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6916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994A"/>
                </a:solidFill>
              </a:defRPr>
            </a:pPr>
            <a:r>
              <a:t>Payment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3317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43B53"/>
                </a:solidFill>
              </a:defRPr>
            </a:pPr>
            <a:r>
              <a:t>Electronic check  45.3%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2606039"/>
            <a:ext cx="3200400" cy="137160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98848" y="2606039"/>
            <a:ext cx="2899562" cy="1371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154679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43B53"/>
                </a:solidFill>
              </a:defRPr>
            </a:pPr>
            <a:r>
              <a:t>Mailed check  19.1%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8848" y="3428999"/>
            <a:ext cx="3200400" cy="137160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98848" y="3428999"/>
            <a:ext cx="1222552" cy="1371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3977639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43B53"/>
                </a:solidFill>
              </a:defRPr>
            </a:pPr>
            <a:r>
              <a:t>Bank transfer  16.7%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8848" y="4251959"/>
            <a:ext cx="3200400" cy="137160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98848" y="4251959"/>
            <a:ext cx="1068933" cy="1371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4800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43B53"/>
                </a:solidFill>
              </a:defRPr>
            </a:pPr>
            <a:r>
              <a:t>Credit card  15.2%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8848" y="5074920"/>
            <a:ext cx="3200400" cy="137160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8848" y="5074920"/>
            <a:ext cx="972921" cy="1371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37575" y="150876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0455" y="16916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6A6"/>
                </a:solidFill>
              </a:defRPr>
            </a:pPr>
            <a:r>
              <a:t>Technical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5" y="23317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43B53"/>
                </a:solidFill>
              </a:defRPr>
            </a:pPr>
            <a:r>
              <a:t>No support  41.6%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0455" y="2606039"/>
            <a:ext cx="3200400" cy="137160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0455" y="2606039"/>
            <a:ext cx="2662732" cy="1371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0455" y="3154679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43B53"/>
                </a:solidFill>
              </a:defRPr>
            </a:pPr>
            <a:r>
              <a:t>Support  15.2%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5" y="3428999"/>
            <a:ext cx="3200400" cy="137160"/>
          </a:xfrm>
          <a:prstGeom prst="rect">
            <a:avLst/>
          </a:prstGeom>
          <a:solidFill>
            <a:srgbClr val="E6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0455" y="3428999"/>
            <a:ext cx="972921" cy="1371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7D98"/>
                </a:solidFill>
              </a:defRPr>
            </a:pPr>
            <a:r>
              <a:t>AnalystLab Africa • Week 5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80ED"/>
                </a:solidFill>
              </a:defRPr>
            </a:pPr>
            <a:r>
              <a:t>05 • CUSTOMER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A43"/>
                </a:solidFill>
              </a:defRPr>
            </a:pPr>
            <a:r>
              <a:t>Tenure &amp; Monthly Charges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05840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EB5757"/>
                </a:solidFill>
              </a:defRPr>
            </a:pPr>
            <a:r>
              <a:t>18.0 mo</a:t>
            </a:r>
          </a:p>
          <a:p>
            <a:pPr algn="ctr">
              <a:defRPr sz="900">
                <a:solidFill>
                  <a:srgbClr val="627D98"/>
                </a:solidFill>
              </a:defRPr>
            </a:pPr>
            <a:r>
              <a:t>Average tenure • churned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5544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A6A6"/>
                </a:solidFill>
              </a:defRPr>
            </a:pPr>
            <a:r>
              <a:t>37.6 mo</a:t>
            </a:r>
          </a:p>
          <a:p>
            <a:pPr algn="ctr">
              <a:defRPr sz="900">
                <a:solidFill>
                  <a:srgbClr val="627D98"/>
                </a:solidFill>
              </a:defRPr>
            </a:pPr>
            <a:r>
              <a:t>Average tenure • retained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5544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2994A"/>
                </a:solidFill>
              </a:defRPr>
            </a:pPr>
            <a:r>
              <a:t>74.44</a:t>
            </a:r>
          </a:p>
          <a:p>
            <a:pPr algn="ctr">
              <a:defRPr sz="900">
                <a:solidFill>
                  <a:srgbClr val="627D98"/>
                </a:solidFill>
              </a:defRPr>
            </a:pPr>
            <a:r>
              <a:t>Avg. monthly charge • churned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10241280" cy="20574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C8DC"/>
                </a:solidFill>
              </a:defRPr>
            </a:pPr>
            <a:r>
              <a:t>THE PATTERN</a:t>
            </a:r>
          </a:p>
          <a:p>
            <a:pPr algn="ctr">
              <a:defRPr sz="2500" b="1">
                <a:solidFill>
                  <a:srgbClr val="FFFFFF"/>
                </a:solidFill>
              </a:defRPr>
            </a:pPr>
            <a:r>
              <a:t>Churned customers are newer and pay more on average.</a:t>
            </a:r>
          </a:p>
          <a:p>
            <a:pPr algn="ctr">
              <a:defRPr sz="1100">
                <a:solidFill>
                  <a:srgbClr val="CDDCE8"/>
                </a:solidFill>
              </a:defRPr>
            </a:pPr>
            <a:r>
              <a:t>This points to an early retention window and a need to make higher-priced plans feel valuable.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7D98"/>
                </a:solidFill>
              </a:defRPr>
            </a:pPr>
            <a:r>
              <a:t>AnalystLab Africa • Week 5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80ED"/>
                </a:solidFill>
              </a:defRPr>
            </a:pPr>
            <a:r>
              <a:t>06 •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A43"/>
                </a:solidFill>
              </a:defRPr>
            </a:pPr>
            <a:r>
              <a:t>Five Findings to Take to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05840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73351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80ED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73351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2A43"/>
                </a:solidFill>
              </a:defRPr>
            </a:pPr>
            <a:r>
              <a:t>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4069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Month-to-month customers have the highest churn.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73351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80ED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673351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2A43"/>
                </a:solidFill>
              </a:defRPr>
            </a:pPr>
            <a:r>
              <a:t>TENURE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057400"/>
            <a:ext cx="4069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Newer customers are more vulnerable to leaving.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273552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80ED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73552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2A43"/>
                </a:solidFill>
              </a:defRPr>
            </a:pPr>
            <a:r>
              <a:t>CHARGES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657600"/>
            <a:ext cx="4069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Churned customers pay higher average monthly charges.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0896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273552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80ED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273552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2A43"/>
                </a:solidFill>
              </a:defRPr>
            </a:pPr>
            <a: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657600"/>
            <a:ext cx="4069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Electronic-check customers show the highest churn rate.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470916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873752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80ED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873752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2A43"/>
                </a:solidFill>
              </a:defRPr>
            </a:pPr>
            <a:r>
              <a:t>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5257800"/>
            <a:ext cx="4069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Support and security services are associated with lower churn.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7D98"/>
                </a:solidFill>
              </a:defRPr>
            </a:pPr>
            <a:r>
              <a:t>AnalystLab Africa • Week 5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80ED"/>
                </a:solidFill>
              </a:defRPr>
            </a:pPr>
            <a:r>
              <a:t>07 •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A43"/>
                </a:solidFill>
              </a:defRPr>
            </a:pPr>
            <a:r>
              <a:t>Recommendations: Move From Broad to Targeted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05840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44752"/>
            <a:ext cx="502920" cy="50292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26464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Convert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426464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Incentivize month-to-month customers to move to longer contracts.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5915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Onboard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359152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Create early-stage check-ins for newer customers.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310128"/>
            <a:ext cx="502920" cy="50292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2918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29184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Review fiber optic pricing, reliability and support experience.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42816"/>
            <a:ext cx="502920" cy="50292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2452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Add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2245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Use plan reviews and loyalty offers for high-charge customers.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175504"/>
            <a:ext cx="502920" cy="50292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157216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Prioritize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5157216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Build retention campaigns around combined high-risk signals.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7D98"/>
                </a:solidFill>
              </a:defRPr>
            </a:pPr>
            <a:r>
              <a:t>AnalystLab Africa • Week 5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3327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8C8DC"/>
                </a:solidFill>
              </a:defRPr>
            </a:pPr>
            <a:r>
              <a:t>The data tells us where the retention problem is.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Churn is concentrated around identifiable customer segments — especially month-to-month and newer customers.</a:t>
            </a:r>
          </a:p>
          <a:p>
            <a:pPr>
              <a:defRPr sz="1700">
                <a:solidFill>
                  <a:srgbClr val="CDDCE8"/>
                </a:solidFill>
              </a:defRPr>
            </a:pPr>
            <a:r>
              <a:t>The opportunity is to use these signals to target retention efforts earlier and more intelligently.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Thank you ❤️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